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8"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0CA612-DAF7-4421-9FD2-1700C6A730EB}" v="131" dt="2026-09-10T04:01:11.950"/>
    <p1510:client id="{7CA89EAD-C493-48B0-B121-7C582F6814E6}" v="182" dt="2026-09-09T19:27:37.040"/>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prathamk124/Seasonal_Agriculture_Performance_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82616" y="3425763"/>
            <a:ext cx="6519974" cy="861497"/>
          </a:xfrm>
          <a:solidFill>
            <a:schemeClr val="bg1"/>
          </a:solidFill>
          <a:ln>
            <a:solidFill>
              <a:schemeClr val="bg1"/>
            </a:solidFill>
          </a:ln>
        </p:spPr>
        <p:txBody>
          <a:bodyPr vert="horz" lIns="91440" tIns="45720" rIns="91440" bIns="45720" rtlCol="0" anchor="t">
            <a:normAutofit fontScale="92500"/>
          </a:bodyPr>
          <a:lstStyle/>
          <a:p>
            <a:r>
              <a:rPr lang="en-US" b="0" dirty="0">
                <a:solidFill>
                  <a:schemeClr val="tx1"/>
                </a:solidFill>
              </a:rPr>
              <a:t>[Student Name:- Pratham. Ashish. Kothari </a:t>
            </a:r>
            <a:endParaRPr lang="en-IN" b="0" dirty="0">
              <a:solidFill>
                <a:schemeClr val="tx1"/>
              </a:solidFill>
            </a:endParaRPr>
          </a:p>
          <a:p>
            <a:r>
              <a:rPr lang="en-US" b="0" dirty="0">
                <a:solidFill>
                  <a:schemeClr val="tx1"/>
                </a:solidFill>
              </a:rPr>
              <a:t>College Name- MCT's </a:t>
            </a:r>
            <a:r>
              <a:rPr lang="en-US" b="0" dirty="0">
                <a:solidFill>
                  <a:schemeClr val="tx1"/>
                </a:solidFill>
                <a:ea typeface="+mj-lt"/>
                <a:cs typeface="+mj-lt"/>
              </a:rPr>
              <a:t>Rajiv Gandhi Institute of Technology</a:t>
            </a:r>
            <a:r>
              <a:rPr lang="en-US" b="0" dirty="0">
                <a:solidFill>
                  <a:schemeClr val="tx1"/>
                </a:solidFill>
              </a:rPr>
              <a: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01618"/>
            <a:ext cx="9700116" cy="772203"/>
          </a:xfrm>
        </p:spPr>
        <p:txBody>
          <a:bodyPr>
            <a:normAutofit fontScale="90000"/>
          </a:bodyPr>
          <a:lstStyle/>
          <a:p>
            <a:r>
              <a:rPr lang="en-GB" sz="3200" dirty="0"/>
              <a:t>Project Title - </a:t>
            </a:r>
            <a:r>
              <a:rPr lang="en-GB" sz="3200" dirty="0">
                <a:ea typeface="+mn-lt"/>
                <a:cs typeface="+mn-lt"/>
              </a:rPr>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84236" y="4432695"/>
            <a:ext cx="5721152" cy="369332"/>
          </a:xfrm>
          <a:prstGeom prst="rect">
            <a:avLst/>
          </a:prstGeom>
          <a:noFill/>
        </p:spPr>
        <p:txBody>
          <a:bodyPr wrap="square" lIns="91440" tIns="45720" rIns="91440" bIns="45720" rtlCol="0" anchor="t">
            <a:spAutoFit/>
          </a:bodyPr>
          <a:lstStyle/>
          <a:p>
            <a:r>
              <a:rPr lang="en-US" b="1" dirty="0"/>
              <a:t>AICTE STU ID : </a:t>
            </a:r>
            <a:r>
              <a:rPr lang="en-US" b="1" dirty="0">
                <a:solidFill>
                  <a:srgbClr val="020617"/>
                </a:solidFill>
                <a:highlight>
                  <a:srgbClr val="FFFFFF"/>
                </a:highlight>
                <a:ea typeface="+mn-lt"/>
                <a:cs typeface="+mn-lt"/>
              </a:rPr>
              <a:t>STU685417646c8121750341476</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A8518BC3-3143-D453-DD48-B337FFAB9DFC}"/>
              </a:ext>
            </a:extLst>
          </p:cNvPr>
          <p:cNvSpPr txBox="1"/>
          <p:nvPr/>
        </p:nvSpPr>
        <p:spPr>
          <a:xfrm>
            <a:off x="670111" y="1348346"/>
            <a:ext cx="734120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Agricultural performance is influenced by seasonal variations in environmental conditions, farming practices, resource availability, and market conditions. </a:t>
            </a:r>
            <a:endParaRPr lang="en-US" dirty="0"/>
          </a:p>
          <a:p>
            <a:pPr algn="just"/>
            <a:r>
              <a:rPr lang="en-US" dirty="0">
                <a:ea typeface="+mn-lt"/>
                <a:cs typeface="+mn-lt"/>
              </a:rPr>
              <a:t>However, raw agricultural data does not clearly show how performance changes across seasons or what patterns exist. </a:t>
            </a:r>
            <a:endParaRPr lang="en-US" dirty="0"/>
          </a:p>
          <a:p>
            <a:pPr algn="just"/>
            <a:r>
              <a:rPr lang="en-US" dirty="0">
                <a:ea typeface="+mn-lt"/>
                <a:cs typeface="+mn-lt"/>
              </a:rPr>
              <a:t>Therefore, this project aims to analyze the agricultural dataset to identify </a:t>
            </a:r>
            <a:r>
              <a:rPr lang="en-US" b="1" dirty="0">
                <a:ea typeface="+mn-lt"/>
                <a:cs typeface="+mn-lt"/>
              </a:rPr>
              <a:t>seasonal differences, patterns, trends, relationships, and variations</a:t>
            </a:r>
            <a:r>
              <a:rPr lang="en-US" dirty="0">
                <a:ea typeface="+mn-lt"/>
                <a:cs typeface="+mn-lt"/>
              </a:rPr>
              <a:t> in agricultural performance.</a:t>
            </a:r>
            <a:endParaRPr lang="en-US" dirty="0"/>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4776" y="992119"/>
            <a:ext cx="8044523" cy="1722392"/>
          </a:xfrm>
        </p:spPr>
        <p:txBody>
          <a:bodyPr vert="horz" lIns="91440" tIns="45720" rIns="91440" bIns="45720" rtlCol="0" anchor="t">
            <a:noAutofit/>
          </a:bodyPr>
          <a:lstStyle/>
          <a:p>
            <a:br>
              <a:rPr lang="en-GB" sz="1800" b="0" dirty="0">
                <a:ea typeface="+mj-lt"/>
                <a:cs typeface="+mj-lt"/>
              </a:rPr>
            </a:br>
            <a:r>
              <a:rPr lang="en-GB" sz="1800" b="0" dirty="0">
                <a:ea typeface="+mj-lt"/>
                <a:cs typeface="+mj-lt"/>
              </a:rPr>
              <a:t>This project </a:t>
            </a:r>
            <a:r>
              <a:rPr lang="en-GB" sz="1800" b="0" dirty="0" err="1">
                <a:ea typeface="+mj-lt"/>
                <a:cs typeface="+mj-lt"/>
              </a:rPr>
              <a:t>analyzes</a:t>
            </a:r>
            <a:r>
              <a:rPr lang="en-GB" sz="1800" b="0" dirty="0">
                <a:ea typeface="+mj-lt"/>
                <a:cs typeface="+mj-lt"/>
              </a:rPr>
              <a:t> agricultural activities across different seasons, geographical areas, and farming conditions. It examines </a:t>
            </a:r>
            <a:r>
              <a:rPr lang="en-GB" sz="1800" dirty="0">
                <a:ea typeface="+mj-lt"/>
                <a:cs typeface="+mj-lt"/>
              </a:rPr>
              <a:t>environmental conditions, farming practices, resource usage, crop production, and economic performance</a:t>
            </a:r>
            <a:r>
              <a:rPr lang="en-GB" sz="1800" b="0" dirty="0">
                <a:ea typeface="+mj-lt"/>
                <a:cs typeface="+mj-lt"/>
              </a:rPr>
              <a:t> to understand how agricultural performance changes between seasons. </a:t>
            </a:r>
            <a:endParaRPr lang="en-US" sz="1800"/>
          </a:p>
          <a:p>
            <a:pPr algn="just"/>
            <a:r>
              <a:rPr lang="en-GB" sz="1800" b="0" dirty="0">
                <a:ea typeface="+mj-lt"/>
                <a:cs typeface="+mj-lt"/>
              </a:rPr>
              <a:t>The analysis uses data cleaning, statistical techniques, visualization, and comparative analysis to identify </a:t>
            </a:r>
            <a:r>
              <a:rPr lang="en-GB" sz="1800" dirty="0">
                <a:ea typeface="+mj-lt"/>
                <a:cs typeface="+mj-lt"/>
              </a:rPr>
              <a:t>seasonal patterns, trends, relationships, significant differences, and unusual variations</a:t>
            </a:r>
            <a:r>
              <a:rPr lang="en-GB" sz="1800" b="0" dirty="0">
                <a:ea typeface="+mj-lt"/>
                <a:cs typeface="+mj-lt"/>
              </a:rPr>
              <a:t>. The findings are then interpreted to generate </a:t>
            </a:r>
            <a:r>
              <a:rPr lang="en-GB" sz="1800" dirty="0">
                <a:ea typeface="+mj-lt"/>
                <a:cs typeface="+mj-lt"/>
              </a:rPr>
              <a:t>evidence-based insights and recommendations for better seasonal agricultural planning</a:t>
            </a:r>
            <a:r>
              <a:rPr lang="en-GB" sz="1800" b="0" dirty="0">
                <a:ea typeface="+mj-lt"/>
                <a:cs typeface="+mj-lt"/>
              </a:rPr>
              <a:t>.</a:t>
            </a:r>
            <a:endParaRPr lang="en-GB" sz="1800" dirty="0"/>
          </a:p>
          <a:p>
            <a:pPr algn="just"/>
            <a:endParaRPr lang="en-GB"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EBD3DE55-A0E9-2643-5CCD-6C757C3BE5CA}"/>
              </a:ext>
            </a:extLst>
          </p:cNvPr>
          <p:cNvSpPr txBox="1"/>
          <p:nvPr/>
        </p:nvSpPr>
        <p:spPr>
          <a:xfrm>
            <a:off x="674798" y="404440"/>
            <a:ext cx="624852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000" dirty="0"/>
              <a:t>Project Description</a:t>
            </a:r>
            <a:endParaRPr lang="en-US" sz="400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35095" y="1660681"/>
            <a:ext cx="7990745" cy="4320702"/>
          </a:xfrm>
        </p:spPr>
        <p:txBody>
          <a:bodyPr vert="horz" lIns="91440" tIns="45720" rIns="91440" bIns="45720" rtlCol="0" anchor="t">
            <a:normAutofit fontScale="62500" lnSpcReduction="20000"/>
          </a:bodyPr>
          <a:lstStyle/>
          <a:p>
            <a:pPr algn="just"/>
            <a:r>
              <a:rPr lang="en-IN" sz="3600" dirty="0">
                <a:ea typeface="+mn-lt"/>
                <a:cs typeface="+mn-lt"/>
              </a:rPr>
              <a:t>Farmers and farm managers – to understand seasonal crop performance and improve farming decisions.</a:t>
            </a:r>
            <a:endParaRPr lang="en-IN" sz="3600"/>
          </a:p>
          <a:p>
            <a:pPr algn="just"/>
            <a:r>
              <a:rPr lang="en-IN" sz="3600" dirty="0">
                <a:ea typeface="+mn-lt"/>
                <a:cs typeface="+mn-lt"/>
              </a:rPr>
              <a:t>Agricultural planners and government departments – to support evidence-based seasonal agricultural planning.</a:t>
            </a:r>
            <a:endParaRPr lang="en-IN"/>
          </a:p>
          <a:p>
            <a:pPr algn="just"/>
            <a:r>
              <a:rPr lang="en-IN" sz="3600" dirty="0">
                <a:ea typeface="+mn-lt"/>
                <a:cs typeface="+mn-lt"/>
              </a:rPr>
              <a:t>Agricultural researchers and data analysts – to study seasonal trends, relationships, and variations.</a:t>
            </a:r>
            <a:endParaRPr lang="en-IN"/>
          </a:p>
          <a:p>
            <a:pPr algn="just"/>
            <a:r>
              <a:rPr lang="en-IN" sz="3600" dirty="0">
                <a:ea typeface="+mn-lt"/>
                <a:cs typeface="+mn-lt"/>
              </a:rPr>
              <a:t>Agribusiness stakeholders – to understand production, resource usage, and economic performance across seasons.</a:t>
            </a:r>
            <a:endParaRPr lang="en-IN"/>
          </a:p>
          <a:p>
            <a:pPr algn="just"/>
            <a:r>
              <a:rPr lang="en-IN" sz="3600" dirty="0">
                <a:ea typeface="+mn-lt"/>
                <a:cs typeface="+mn-lt"/>
              </a:rPr>
              <a:t>Irrigation and resource-management teams – to </a:t>
            </a:r>
            <a:r>
              <a:rPr lang="en-IN" sz="3600" dirty="0" err="1">
                <a:ea typeface="+mn-lt"/>
                <a:cs typeface="+mn-lt"/>
              </a:rPr>
              <a:t>analyze</a:t>
            </a:r>
            <a:r>
              <a:rPr lang="en-IN" sz="3600" dirty="0">
                <a:ea typeface="+mn-lt"/>
                <a:cs typeface="+mn-lt"/>
              </a:rPr>
              <a:t> seasonal resource requirements and improve resource allocation.</a:t>
            </a:r>
            <a:endParaRPr lang="en-IN"/>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93615" y="3848915"/>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08203" y="1274408"/>
            <a:ext cx="8783287" cy="4582091"/>
          </a:xfrm>
        </p:spPr>
        <p:txBody>
          <a:bodyPr vert="horz" lIns="91440" tIns="45720" rIns="91440" bIns="45720" rtlCol="0" anchor="t">
            <a:normAutofit lnSpcReduction="10000"/>
          </a:bodyPr>
          <a:lstStyle/>
          <a:p>
            <a:pPr>
              <a:lnSpc>
                <a:spcPct val="150000"/>
              </a:lnSpc>
            </a:pPr>
            <a:r>
              <a:rPr lang="en-IN" b="1" dirty="0">
                <a:ea typeface="+mn-lt"/>
                <a:cs typeface="+mn-lt"/>
              </a:rPr>
              <a:t>Python</a:t>
            </a:r>
            <a:r>
              <a:rPr lang="en-IN" dirty="0">
                <a:ea typeface="+mn-lt"/>
                <a:cs typeface="+mn-lt"/>
              </a:rPr>
              <a:t> – Main programming language for data analysis.</a:t>
            </a:r>
            <a:endParaRPr lang="en-IN" dirty="0"/>
          </a:p>
          <a:p>
            <a:pPr>
              <a:lnSpc>
                <a:spcPct val="150000"/>
              </a:lnSpc>
            </a:pPr>
            <a:r>
              <a:rPr lang="en-IN" b="1" dirty="0">
                <a:ea typeface="+mn-lt"/>
                <a:cs typeface="+mn-lt"/>
              </a:rPr>
              <a:t>Pandas &amp; NumPy</a:t>
            </a:r>
            <a:r>
              <a:rPr lang="en-IN" dirty="0">
                <a:ea typeface="+mn-lt"/>
                <a:cs typeface="+mn-lt"/>
              </a:rPr>
              <a:t> – Data cleaning, preprocessing, aggregation, and numerical analysis.</a:t>
            </a:r>
            <a:endParaRPr lang="en-IN" dirty="0"/>
          </a:p>
          <a:p>
            <a:pPr>
              <a:lnSpc>
                <a:spcPct val="150000"/>
              </a:lnSpc>
            </a:pPr>
            <a:r>
              <a:rPr lang="en-IN" b="1" dirty="0">
                <a:ea typeface="+mn-lt"/>
                <a:cs typeface="+mn-lt"/>
              </a:rPr>
              <a:t>Matplotlib &amp; Seaborn</a:t>
            </a:r>
            <a:r>
              <a:rPr lang="en-IN" dirty="0">
                <a:ea typeface="+mn-lt"/>
                <a:cs typeface="+mn-lt"/>
              </a:rPr>
              <a:t> – Data visualization and graphical analysis.</a:t>
            </a:r>
            <a:endParaRPr lang="en-IN" dirty="0"/>
          </a:p>
          <a:p>
            <a:pPr>
              <a:lnSpc>
                <a:spcPct val="150000"/>
              </a:lnSpc>
            </a:pPr>
            <a:r>
              <a:rPr lang="en-IN" b="1" dirty="0">
                <a:ea typeface="+mn-lt"/>
                <a:cs typeface="+mn-lt"/>
              </a:rPr>
              <a:t>SciPy</a:t>
            </a:r>
            <a:r>
              <a:rPr lang="en-IN" dirty="0">
                <a:ea typeface="+mn-lt"/>
                <a:cs typeface="+mn-lt"/>
              </a:rPr>
              <a:t> – Statistical tests and analysis.</a:t>
            </a:r>
            <a:endParaRPr lang="en-IN" dirty="0"/>
          </a:p>
          <a:p>
            <a:pPr>
              <a:lnSpc>
                <a:spcPct val="150000"/>
              </a:lnSpc>
            </a:pPr>
            <a:r>
              <a:rPr lang="en-IN" b="1" dirty="0">
                <a:ea typeface="+mn-lt"/>
                <a:cs typeface="+mn-lt"/>
              </a:rPr>
              <a:t>Jupyter Notebook</a:t>
            </a:r>
            <a:r>
              <a:rPr lang="en-IN" dirty="0">
                <a:ea typeface="+mn-lt"/>
                <a:cs typeface="+mn-lt"/>
              </a:rPr>
              <a:t> – To perform and document the complete analysis.</a:t>
            </a:r>
            <a:endParaRPr lang="en-IN" dirty="0"/>
          </a:p>
          <a:p>
            <a:r>
              <a:rPr lang="en-IN" b="1" dirty="0">
                <a:ea typeface="+mn-lt"/>
                <a:cs typeface="+mn-lt"/>
              </a:rPr>
              <a:t>Techniques used:</a:t>
            </a:r>
            <a:r>
              <a:rPr lang="en-IN" dirty="0">
                <a:ea typeface="+mn-lt"/>
                <a:cs typeface="+mn-lt"/>
              </a:rPr>
              <a:t> Data Cleaning, Exploratory Data Analysis (EDA), Statistical Analysis, Correlation Analysis, Seasonal Comparison, and Data Visualization.</a:t>
            </a: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198061"/>
            <a:ext cx="2722851" cy="658469"/>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B5DB7A77-E8A6-CAFA-14D4-45CC17972708}"/>
              </a:ext>
            </a:extLst>
          </p:cNvPr>
          <p:cNvPicPr>
            <a:picLocks noChangeAspect="1"/>
          </p:cNvPicPr>
          <p:nvPr/>
        </p:nvPicPr>
        <p:blipFill>
          <a:blip r:embed="rId3"/>
          <a:stretch>
            <a:fillRect/>
          </a:stretch>
        </p:blipFill>
        <p:spPr>
          <a:xfrm>
            <a:off x="800460" y="865608"/>
            <a:ext cx="8894552" cy="598942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503429" y="111797"/>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AA0FFFE3-0018-8D87-0BBF-B197CDD688C3}"/>
              </a:ext>
            </a:extLst>
          </p:cNvPr>
          <p:cNvPicPr>
            <a:picLocks noChangeAspect="1"/>
          </p:cNvPicPr>
          <p:nvPr/>
        </p:nvPicPr>
        <p:blipFill>
          <a:blip r:embed="rId3"/>
          <a:stretch>
            <a:fillRect/>
          </a:stretch>
        </p:blipFill>
        <p:spPr>
          <a:xfrm>
            <a:off x="676634" y="773053"/>
            <a:ext cx="8293938" cy="600200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503429" y="111797"/>
            <a:ext cx="2981643" cy="830997"/>
          </a:xfrm>
        </p:spPr>
        <p:txBody>
          <a:bodyPr>
            <a:norm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E79F915D-07D8-72A7-A69A-9A301F981A6F}"/>
              </a:ext>
            </a:extLst>
          </p:cNvPr>
          <p:cNvPicPr>
            <a:picLocks noChangeAspect="1"/>
          </p:cNvPicPr>
          <p:nvPr/>
        </p:nvPicPr>
        <p:blipFill>
          <a:blip r:embed="rId3"/>
          <a:stretch>
            <a:fillRect/>
          </a:stretch>
        </p:blipFill>
        <p:spPr>
          <a:xfrm>
            <a:off x="505184" y="720485"/>
            <a:ext cx="6925933" cy="60065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503429" y="-3222"/>
            <a:ext cx="2765983" cy="658469"/>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4B897B0B-41BB-DA4B-5055-BAD4E48EAE26}"/>
              </a:ext>
            </a:extLst>
          </p:cNvPr>
          <p:cNvPicPr>
            <a:picLocks noChangeAspect="1"/>
          </p:cNvPicPr>
          <p:nvPr/>
        </p:nvPicPr>
        <p:blipFill>
          <a:blip r:embed="rId3"/>
          <a:stretch>
            <a:fillRect/>
          </a:stretch>
        </p:blipFill>
        <p:spPr>
          <a:xfrm>
            <a:off x="198408" y="539870"/>
            <a:ext cx="9753600" cy="63246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489051" y="-3222"/>
            <a:ext cx="2564700" cy="658469"/>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A47AE055-8A9E-E955-603F-15E697EA435F}"/>
              </a:ext>
            </a:extLst>
          </p:cNvPr>
          <p:cNvPicPr>
            <a:picLocks noChangeAspect="1"/>
          </p:cNvPicPr>
          <p:nvPr/>
        </p:nvPicPr>
        <p:blipFill>
          <a:blip r:embed="rId3"/>
          <a:stretch>
            <a:fillRect/>
          </a:stretch>
        </p:blipFill>
        <p:spPr>
          <a:xfrm>
            <a:off x="323670" y="630627"/>
            <a:ext cx="8439150" cy="622935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7C879-F1AA-1DC8-691E-77AE1F64186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1ADFA35-0447-8FFA-1A8B-0878DC63DE9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3D4BEAD-02A4-F16F-CE2D-23EBD03389BC}"/>
              </a:ext>
            </a:extLst>
          </p:cNvPr>
          <p:cNvSpPr>
            <a:spLocks noGrp="1"/>
          </p:cNvSpPr>
          <p:nvPr>
            <p:ph type="title"/>
          </p:nvPr>
        </p:nvSpPr>
        <p:spPr>
          <a:xfrm>
            <a:off x="489051" y="-3222"/>
            <a:ext cx="2564700" cy="658469"/>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3E16A196-664A-AB4E-6E7C-38118BD1572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11FE416-B258-0148-CAFA-2964C0FC289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EEB71EE-84D8-5F07-A94E-5E068F2680B2}"/>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3" name="Picture 2">
            <a:extLst>
              <a:ext uri="{FF2B5EF4-FFF2-40B4-BE49-F238E27FC236}">
                <a16:creationId xmlns:a16="http://schemas.microsoft.com/office/drawing/2014/main" id="{01C1D125-A721-086A-56A4-4147CE747560}"/>
              </a:ext>
            </a:extLst>
          </p:cNvPr>
          <p:cNvPicPr>
            <a:picLocks noChangeAspect="1"/>
          </p:cNvPicPr>
          <p:nvPr/>
        </p:nvPicPr>
        <p:blipFill>
          <a:blip r:embed="rId3"/>
          <a:stretch>
            <a:fillRect/>
          </a:stretch>
        </p:blipFill>
        <p:spPr>
          <a:xfrm>
            <a:off x="672681" y="544633"/>
            <a:ext cx="6648450" cy="6315075"/>
          </a:xfrm>
          <a:prstGeom prst="rect">
            <a:avLst/>
          </a:prstGeom>
        </p:spPr>
      </p:pic>
    </p:spTree>
    <p:extLst>
      <p:ext uri="{BB962C8B-B14F-4D97-AF65-F5344CB8AC3E}">
        <p14:creationId xmlns:p14="http://schemas.microsoft.com/office/powerpoint/2010/main" val="271035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EAC0F144-AD81-9319-51B8-6B32A75944C0}"/>
              </a:ext>
            </a:extLst>
          </p:cNvPr>
          <p:cNvSpPr txBox="1"/>
          <p:nvPr/>
        </p:nvSpPr>
        <p:spPr>
          <a:xfrm>
            <a:off x="687925" y="1218013"/>
            <a:ext cx="9965697"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Multi-year analysis:</a:t>
            </a:r>
            <a:r>
              <a:rPr lang="en-US" dirty="0">
                <a:ea typeface="+mn-lt"/>
                <a:cs typeface="+mn-lt"/>
              </a:rPr>
              <a:t> Use agricultural data from multiple years to identify long-term seasonal trends.</a:t>
            </a:r>
            <a:endParaRPr lang="en-US" dirty="0"/>
          </a:p>
          <a:p>
            <a:pPr marL="285750" indent="-285750">
              <a:buFont typeface="Arial"/>
              <a:buChar char="•"/>
            </a:pPr>
            <a:r>
              <a:rPr lang="en-US" b="1" dirty="0">
                <a:ea typeface="+mn-lt"/>
                <a:cs typeface="+mn-lt"/>
              </a:rPr>
              <a:t>Predictive analysis:</a:t>
            </a:r>
            <a:r>
              <a:rPr lang="en-US" dirty="0">
                <a:ea typeface="+mn-lt"/>
                <a:cs typeface="+mn-lt"/>
              </a:rPr>
              <a:t> Develop ML models to predict crop yield, production, and profitability for upcoming seasons.</a:t>
            </a:r>
            <a:endParaRPr lang="en-US" dirty="0"/>
          </a:p>
          <a:p>
            <a:pPr marL="285750" indent="-285750">
              <a:buFont typeface="Arial"/>
              <a:buChar char="•"/>
            </a:pPr>
            <a:r>
              <a:rPr lang="en-US" b="1" dirty="0">
                <a:ea typeface="+mn-lt"/>
                <a:cs typeface="+mn-lt"/>
              </a:rPr>
              <a:t>Real-time weather data:</a:t>
            </a:r>
            <a:r>
              <a:rPr lang="en-US" dirty="0">
                <a:ea typeface="+mn-lt"/>
                <a:cs typeface="+mn-lt"/>
              </a:rPr>
              <a:t> Integrate rainfall, temperature, humidity, and other live weather information.</a:t>
            </a:r>
            <a:endParaRPr lang="en-US" dirty="0"/>
          </a:p>
          <a:p>
            <a:pPr marL="285750" indent="-285750">
              <a:buFont typeface="Arial"/>
              <a:buChar char="•"/>
            </a:pPr>
            <a:r>
              <a:rPr lang="en-US" b="1" dirty="0">
                <a:ea typeface="+mn-lt"/>
                <a:cs typeface="+mn-lt"/>
              </a:rPr>
              <a:t>Interactive dashboard:</a:t>
            </a:r>
            <a:r>
              <a:rPr lang="en-US" dirty="0">
                <a:ea typeface="+mn-lt"/>
                <a:cs typeface="+mn-lt"/>
              </a:rPr>
              <a:t> Develop a Power BI or web-based dashboard for real-time seasonal monitoring.</a:t>
            </a:r>
            <a:endParaRPr lang="en-US" dirty="0"/>
          </a:p>
          <a:p>
            <a:pPr marL="285750" indent="-285750">
              <a:buFont typeface="Arial"/>
              <a:buChar char="•"/>
            </a:pPr>
            <a:r>
              <a:rPr lang="en-US" b="1" dirty="0">
                <a:ea typeface="+mn-lt"/>
                <a:cs typeface="+mn-lt"/>
              </a:rPr>
              <a:t>Crop and resource optimization:</a:t>
            </a:r>
            <a:r>
              <a:rPr lang="en-US" dirty="0">
                <a:ea typeface="+mn-lt"/>
                <a:cs typeface="+mn-lt"/>
              </a:rPr>
              <a:t> Recommend suitable crops and optimize water, fertilizer, and pesticide usage based on seasonal conditions.</a:t>
            </a:r>
            <a:endParaRPr lang="en-US" dirty="0"/>
          </a:p>
          <a:p>
            <a:pPr marL="285750" indent="-285750">
              <a:buFont typeface="Arial"/>
              <a:buChar char="•"/>
            </a:pPr>
            <a:r>
              <a:rPr lang="en-US" b="1" dirty="0">
                <a:ea typeface="+mn-lt"/>
                <a:cs typeface="+mn-lt"/>
              </a:rPr>
              <a:t>Advanced regional analysis:</a:t>
            </a:r>
            <a:r>
              <a:rPr lang="en-US" dirty="0">
                <a:ea typeface="+mn-lt"/>
                <a:cs typeface="+mn-lt"/>
              </a:rPr>
              <a:t> Extend the analysis to more regions and districts for better agricultural planning.</a:t>
            </a:r>
            <a:endParaRPr lang="en-US" dirty="0"/>
          </a:p>
          <a:p>
            <a:pPr algn="l"/>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9AA3157-FBBC-8A4A-C105-2BA999D36143}"/>
              </a:ext>
            </a:extLst>
          </p:cNvPr>
          <p:cNvSpPr txBox="1"/>
          <p:nvPr/>
        </p:nvSpPr>
        <p:spPr>
          <a:xfrm>
            <a:off x="675737" y="1761227"/>
            <a:ext cx="84538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3"/>
              </a:rPr>
              <a:t>https://github.com/prathamk124/Seasonal_Agriculture_Performance_Analysis</a:t>
            </a:r>
            <a:endParaRPr lang="en-US"/>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B3C406E9-EBD0-E6C6-32C0-85C044809439}"/>
              </a:ext>
            </a:extLst>
          </p:cNvPr>
          <p:cNvPicPr>
            <a:picLocks noChangeAspect="1"/>
          </p:cNvPicPr>
          <p:nvPr/>
        </p:nvPicPr>
        <p:blipFill>
          <a:blip r:embed="rId3"/>
          <a:stretch>
            <a:fillRect/>
          </a:stretch>
        </p:blipFill>
        <p:spPr>
          <a:xfrm>
            <a:off x="995273" y="1451125"/>
            <a:ext cx="7498511" cy="523533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79" y="2430492"/>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556</TotalTime>
  <Words>71</Words>
  <Application>Microsoft Office PowerPoint</Application>
  <PresentationFormat>Widescreen</PresentationFormat>
  <Paragraphs>18</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Facet</vt:lpstr>
      <vt:lpstr>Project Title - Seasonal Agriculture Performance Analysis</vt:lpstr>
      <vt:lpstr>PROBLEM  STATEMENT</vt:lpstr>
      <vt:lpstr> This project analyzes agricultural activities across different seasons, geographical areas, and farming conditions. It examines environmental conditions, farming practices, resource usage, crop production, and economic performance to understand how agricultural performance changes between seasons.  The analysis uses data cleaning, statistical techniques, visualization, and comparative analysis to identify seasonal patterns, trends, relationships, significant differences, and unusual variations. The findings are then interpreted to generate evidence-based insights and recommendations for better seasonal agricultural planning.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268</cp:revision>
  <dcterms:created xsi:type="dcterms:W3CDTF">2021-07-11T13:13:15Z</dcterms:created>
  <dcterms:modified xsi:type="dcterms:W3CDTF">2026-09-10T04:04:15Z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